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18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348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67E45"/>
          </a:solidFill>
          <a:ln w="12700">
            <a:solidFill>
              <a:srgbClr val="E67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7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Leak Intelligence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412480" y="6492240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87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project • TheLook Ecommerce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B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92598"/>
            <a:ext cx="12191695" cy="6858000"/>
          </a:xfrm>
          <a:prstGeom prst="rect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" y="713232"/>
            <a:ext cx="914400" cy="91440"/>
          </a:xfrm>
          <a:prstGeom prst="rect">
            <a:avLst/>
          </a:prstGeom>
          <a:solidFill>
            <a:srgbClr val="E67E45"/>
          </a:solidFill>
          <a:ln w="12700">
            <a:solidFill>
              <a:srgbClr val="E67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1152144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 kern="0" spc="50" dirty="0">
                <a:solidFill>
                  <a:srgbClr val="FFFFFF"/>
                </a:solidFill>
              </a:rPr>
              <a:t>REVENUE LEAK</a:t>
            </a:r>
            <a:endParaRPr lang="en-US" sz="3200" dirty="0"/>
          </a:p>
          <a:p>
            <a:pPr marL="0" indent="0">
              <a:buNone/>
            </a:pPr>
            <a:r>
              <a:rPr lang="en-US" sz="3200" b="1" kern="0" spc="50" dirty="0">
                <a:solidFill>
                  <a:srgbClr val="FFFFFF"/>
                </a:solidFill>
              </a:rPr>
              <a:t>INTELLIGENCE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94944" y="2907792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DDE7EE"/>
                </a:solidFill>
              </a:rPr>
              <a:t>Where is the business losing money? </a:t>
            </a:r>
          </a:p>
          <a:p>
            <a:pPr marL="0" indent="0">
              <a:buNone/>
            </a:pPr>
            <a:r>
              <a:rPr lang="en-US" sz="1900" dirty="0">
                <a:solidFill>
                  <a:srgbClr val="DDE7EE"/>
                </a:solidFill>
              </a:rPr>
              <a:t>Where should intervention start?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94944" y="3968496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B9C9D5"/>
                </a:solidFill>
              </a:rPr>
              <a:t>BigQuery  →  dbt  →  Advanced SQL  →  Python reporting  →  Executive recommendations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94944" y="59801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7EE"/>
                </a:solidFill>
              </a:rPr>
              <a:t>Huyen Le  |  MS Business Analytics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789920" y="59801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DDE7EE"/>
                </a:solidFill>
              </a:rPr>
              <a:t>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67E45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</a:rPr>
              <a:t>The problem is large - but concentrated enough to prioritize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Current modeled snapshot based on the project’s direct-leakage definition.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673352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673352"/>
            <a:ext cx="73152" cy="1325880"/>
          </a:xfrm>
          <a:prstGeom prst="rect">
            <a:avLst/>
          </a:prstGeom>
          <a:solidFill>
            <a:srgbClr val="E67E45"/>
          </a:solidFill>
          <a:ln w="12700">
            <a:solidFill>
              <a:srgbClr val="E67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$2.65M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Direct revenue leakage identified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3552" y="1673352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73552" y="1673352"/>
            <a:ext cx="73152" cy="1325880"/>
          </a:xfrm>
          <a:prstGeom prst="rect">
            <a:avLst/>
          </a:prstGeom>
          <a:solidFill>
            <a:srgbClr val="2C6E9F"/>
          </a:solidFill>
          <a:ln w="12700">
            <a:solidFill>
              <a:srgbClr val="2C6E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02152" y="19019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24.0%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02152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Leakage from Outerwear + Jeans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52744" y="1673352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52744" y="1673352"/>
            <a:ext cx="73152" cy="132588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81344" y="19019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61.7%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81344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Leakage from top 5 distribution centers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31936" y="1673352"/>
            <a:ext cx="27889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631936" y="1673352"/>
            <a:ext cx="73152" cy="1325880"/>
          </a:xfrm>
          <a:prstGeom prst="rect">
            <a:avLst/>
          </a:prstGeom>
          <a:solidFill>
            <a:srgbClr val="4D7C5B"/>
          </a:solidFill>
          <a:ln w="12700">
            <a:solidFill>
              <a:srgbClr val="4D7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860536" y="19019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$1.26M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60536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Leakage associated with 4,820 severe-leak high-value customers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3337560"/>
            <a:ext cx="10972800" cy="2487168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358444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What management should know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8680" y="4114800"/>
            <a:ext cx="82296" cy="82296"/>
          </a:xfrm>
          <a:prstGeom prst="ellipse">
            <a:avLst/>
          </a:prstGeom>
          <a:solidFill>
            <a:srgbClr val="E67E45"/>
          </a:solidFill>
          <a:ln w="12700">
            <a:solidFill>
              <a:srgbClr val="E67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33272" y="4050792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Cancellation is the dominant leakage mechanism across the highest-impact product categories.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68680" y="4745736"/>
            <a:ext cx="82296" cy="82296"/>
          </a:xfrm>
          <a:prstGeom prst="ellipse">
            <a:avLst/>
          </a:prstGeom>
          <a:solidFill>
            <a:srgbClr val="E67E45"/>
          </a:solidFill>
          <a:ln w="12700">
            <a:solidFill>
              <a:srgbClr val="E67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33272" y="4681728"/>
            <a:ext cx="4864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Absolute leakage is rising as transaction volume scales; normalized leakage rates remain broadly stable.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89320" y="4114800"/>
            <a:ext cx="82296" cy="82296"/>
          </a:xfrm>
          <a:prstGeom prst="ellipse">
            <a:avLst/>
          </a:prstGeom>
          <a:solidFill>
            <a:srgbClr val="2C6E9F"/>
          </a:solidFill>
          <a:ln w="12700">
            <a:solidFill>
              <a:srgbClr val="2C6E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53912" y="4050792"/>
            <a:ext cx="4681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Traffic source appears to be an exposure dimension rather than a demonstrated root cause.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989320" y="4745736"/>
            <a:ext cx="82296" cy="82296"/>
          </a:xfrm>
          <a:prstGeom prst="ellipse">
            <a:avLst/>
          </a:prstGeom>
          <a:solidFill>
            <a:srgbClr val="2C6E9F"/>
          </a:solidFill>
          <a:ln w="12700">
            <a:solidFill>
              <a:srgbClr val="2C6E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53912" y="4681728"/>
            <a:ext cx="4681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The best near-term opportunity is targeted intervention: high-value customers, high-dollar categories, and high-volume fulfillment nodes.</a:t>
            </a:r>
            <a:endParaRPr lang="en-US" sz="13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67E45"/>
                </a:solidFill>
              </a:rPr>
              <a:t>ANALYTICAL APPROACH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</a:rPr>
              <a:t>From raw ecommerce events to decision-ready leakage metrics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A reproducible analytics workflow with explicit transformation, validation, and reporting layers.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993392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EEF4F8"/>
          </a:solidFill>
          <a:ln w="12700">
            <a:solidFill>
              <a:srgbClr val="CB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94944" y="2194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7"/>
                </a:solidFill>
              </a:rPr>
              <a:t>BigQuery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25420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TheLook Ecommerce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94560" y="2340864"/>
            <a:ext cx="274320" cy="310896"/>
          </a:xfrm>
          <a:prstGeom prst="chevron">
            <a:avLst/>
          </a:prstGeom>
          <a:solidFill>
            <a:srgbClr val="B7C5CF"/>
          </a:solidFill>
          <a:ln w="12700">
            <a:solidFill>
              <a:srgbClr val="B7C5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50592" y="1993392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78608" y="2194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dbt staging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25420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typed + standardized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78224" y="2340864"/>
            <a:ext cx="274320" cy="310896"/>
          </a:xfrm>
          <a:prstGeom prst="chevron">
            <a:avLst/>
          </a:prstGeom>
          <a:solidFill>
            <a:srgbClr val="B7C5CF"/>
          </a:solidFill>
          <a:ln w="12700">
            <a:solidFill>
              <a:srgbClr val="B7C5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34256" y="1993392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62272" y="2194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Intermediate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43984" y="25420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order-item enrichment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61888" y="2340864"/>
            <a:ext cx="274320" cy="310896"/>
          </a:xfrm>
          <a:prstGeom prst="chevron">
            <a:avLst/>
          </a:prstGeom>
          <a:solidFill>
            <a:srgbClr val="B7C5CF"/>
          </a:solidFill>
          <a:ln w="12700">
            <a:solidFill>
              <a:srgbClr val="B7C5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1993392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45936" y="2194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Marts / SQL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27648" y="25420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leakage + lifecycle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45552" y="2340864"/>
            <a:ext cx="274320" cy="310896"/>
          </a:xfrm>
          <a:prstGeom prst="chevron">
            <a:avLst/>
          </a:prstGeom>
          <a:solidFill>
            <a:srgbClr val="B7C5CF"/>
          </a:solidFill>
          <a:ln w="12700">
            <a:solidFill>
              <a:srgbClr val="B7C5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01584" y="1993392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0" y="2194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Python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11312" y="25420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report visuals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2340864"/>
            <a:ext cx="274320" cy="310896"/>
          </a:xfrm>
          <a:prstGeom prst="chevron">
            <a:avLst/>
          </a:prstGeom>
          <a:solidFill>
            <a:srgbClr val="B7C5CF"/>
          </a:solidFill>
          <a:ln w="12700">
            <a:solidFill>
              <a:srgbClr val="B7C5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985248" y="1993392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113264" y="219456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</a:rPr>
              <a:t>PPT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94976" y="2542032"/>
            <a:ext cx="1353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executive decisions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" y="3822192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5800" y="3822192"/>
            <a:ext cx="73152" cy="1325880"/>
          </a:xfrm>
          <a:prstGeom prst="rect">
            <a:avLst/>
          </a:prstGeom>
          <a:solidFill>
            <a:srgbClr val="2C6E9F"/>
          </a:solidFill>
          <a:ln w="12700">
            <a:solidFill>
              <a:srgbClr val="2C6E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40507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180K+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14400" y="4572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Order-item records modeled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096512" y="3822192"/>
            <a:ext cx="3154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096512" y="3822192"/>
            <a:ext cx="73152" cy="1325880"/>
          </a:xfrm>
          <a:prstGeom prst="rect">
            <a:avLst/>
          </a:prstGeom>
          <a:solidFill>
            <a:srgbClr val="4D7C5B"/>
          </a:solidFill>
          <a:ln w="12700">
            <a:solidFill>
              <a:srgbClr val="4D7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325112" y="40507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108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4325112" y="4572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Automated dbt tests passing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507224" y="3822192"/>
            <a:ext cx="37947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507224" y="3822192"/>
            <a:ext cx="73152" cy="1325880"/>
          </a:xfrm>
          <a:prstGeom prst="rect">
            <a:avLst/>
          </a:prstGeom>
          <a:solidFill>
            <a:srgbClr val="E67E45"/>
          </a:solidFill>
          <a:ln w="12700">
            <a:solidFill>
              <a:srgbClr val="E67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735824" y="40507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GitHub-first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735824" y="45720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Code, docs, charts, and report packaged for recruiter review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04088" y="563270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B57"/>
                </a:solidFill>
              </a:rPr>
              <a:t>Analytical principle: distinguish dollar exposure from normalized failure rate before labeling a segment as operationally “bad.”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67E45"/>
                </a:solidFill>
              </a:rPr>
              <a:t>PRODUCT ROOT CAUSE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</a:rPr>
              <a:t>Two categories drive one quarter of all direct leakage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Outerwear &amp; Coats and Jeans combine for ~$635K of direct leakage.</a:t>
            </a:r>
            <a:endParaRPr lang="en-US" sz="1250" dirty="0"/>
          </a:p>
        </p:txBody>
      </p:sp>
      <p:pic>
        <p:nvPicPr>
          <p:cNvPr id="5" name="Image 0" descr="/mnt/data/revenue_leak_assets/top10_category_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5605272" cy="4160520"/>
          </a:xfrm>
          <a:prstGeom prst="rect">
            <a:avLst/>
          </a:prstGeom>
        </p:spPr>
      </p:pic>
      <p:pic>
        <p:nvPicPr>
          <p:cNvPr id="6" name="Image 1" descr="/mnt/data/revenue_leak_assets/top10_leakage_cau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508760"/>
            <a:ext cx="5532120" cy="4160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21792" y="5788152"/>
            <a:ext cx="10972800" cy="530352"/>
          </a:xfrm>
          <a:prstGeom prst="roundRect">
            <a:avLst>
              <a:gd name="adj" fmla="val 13793"/>
            </a:avLst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896112" y="5916168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Priority: reduce cancellation in the highest-dollar categories before applying broad catalog-wide interventions.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67E45"/>
                </a:solidFill>
              </a:rPr>
              <a:t>CUSTOMER LIFECYCLE RISK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</a:rPr>
              <a:t>High-value severe-leak customers represent outsized financial exposure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The segment is small enough to target, but large enough to matter materially.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73152" cy="1554480"/>
          </a:xfrm>
          <a:prstGeom prst="rect">
            <a:avLst/>
          </a:prstGeom>
          <a:solidFill>
            <a:srgbClr val="E67E45"/>
          </a:solidFill>
          <a:ln w="12700">
            <a:solidFill>
              <a:srgbClr val="E67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4,820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235000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High Value / Severe Leak customers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73152" cy="1554480"/>
          </a:xfrm>
          <a:prstGeom prst="rect">
            <a:avLst/>
          </a:prstGeom>
          <a:solidFill>
            <a:srgbClr val="B4533F"/>
          </a:solidFill>
          <a:ln w="12700">
            <a:solidFill>
              <a:srgbClr val="B453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≈$1.26M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68680" y="408736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Leakage associated with the segment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977640" y="1600200"/>
            <a:ext cx="7452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0" y="1847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Customer prioritization lens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52360" y="46177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Customer value 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 rot="16200000">
            <a:off x="4069080" y="288950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Leakage severity ↑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74920" y="2377440"/>
            <a:ext cx="2743200" cy="960120"/>
          </a:xfrm>
          <a:prstGeom prst="rect">
            <a:avLst/>
          </a:prstGeom>
          <a:solidFill>
            <a:srgbClr val="F2F5F7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818120" y="2377440"/>
            <a:ext cx="2743200" cy="960120"/>
          </a:xfrm>
          <a:prstGeom prst="rect">
            <a:avLst/>
          </a:prstGeom>
          <a:solidFill>
            <a:srgbClr val="FCEDE7"/>
          </a:solidFill>
          <a:ln w="12700">
            <a:solidFill>
              <a:srgbClr val="F0C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74920" y="3337560"/>
            <a:ext cx="2743200" cy="960120"/>
          </a:xfrm>
          <a:prstGeom prst="rect">
            <a:avLst/>
          </a:prstGeom>
          <a:solidFill>
            <a:srgbClr val="F5F7F9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818120" y="3337560"/>
            <a:ext cx="2743200" cy="960120"/>
          </a:xfrm>
          <a:prstGeom prst="rect">
            <a:avLst/>
          </a:prstGeom>
          <a:solidFill>
            <a:srgbClr val="EDF4F8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03520" y="2651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Low value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High leakage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263347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B4533F"/>
                </a:solidFill>
              </a:rPr>
              <a:t>HIGH VALUE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B4533F"/>
                </a:solidFill>
              </a:rPr>
              <a:t>SEVERE LEAK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03520" y="36210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Low value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Low leakage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0" y="36210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73B57"/>
                </a:solidFill>
              </a:rPr>
              <a:t>High value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73B57"/>
                </a:solidFill>
              </a:rPr>
              <a:t>Lower leakage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977640" y="5193792"/>
            <a:ext cx="7452360" cy="960120"/>
          </a:xfrm>
          <a:prstGeom prst="roundRect">
            <a:avLst>
              <a:gd name="adj" fmla="val 7619"/>
            </a:avLst>
          </a:prstGeom>
          <a:solidFill>
            <a:srgbClr val="EEF4F8"/>
          </a:solidFill>
          <a:ln w="12700">
            <a:solidFill>
              <a:srgbClr val="D4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15968" y="54132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B57"/>
                </a:solidFill>
              </a:rPr>
              <a:t>Business implication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33872" y="5321808"/>
            <a:ext cx="5257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Protect economic value first: prioritize retention, cancellation prevention, and recovery actions for this segment before optimizing by customer count alone.</a:t>
            </a:r>
            <a:endParaRPr lang="en-US" sz="11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67E45"/>
                </a:solidFill>
              </a:rPr>
              <a:t>FULFILLMENT CONCENTRATION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</a:rPr>
              <a:t>Dollar exposure is concentrated — normalized rates are not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The top 5 distribution centers account for 61.7% of leakage, but their leakage rates cluster near 24–25%.</a:t>
            </a:r>
            <a:endParaRPr lang="en-US" sz="1250" dirty="0"/>
          </a:p>
        </p:txBody>
      </p:sp>
      <p:pic>
        <p:nvPicPr>
          <p:cNvPr id="5" name="Image 0" descr="/mnt/data/revenue_leak_assets/distribution_center_lea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81328"/>
            <a:ext cx="708660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45552" y="1719072"/>
            <a:ext cx="370332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138160" y="19933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Interpretation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138160" y="2578608"/>
            <a:ext cx="82296" cy="82296"/>
          </a:xfrm>
          <a:prstGeom prst="ellipse">
            <a:avLst/>
          </a:prstGeom>
          <a:solidFill>
            <a:srgbClr val="E67E45"/>
          </a:solidFill>
          <a:ln w="12700">
            <a:solidFill>
              <a:srgbClr val="E67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302752" y="2514600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Houston has the highest dollar leakage, but not the highest leakage rate.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38160" y="3310128"/>
            <a:ext cx="82296" cy="82296"/>
          </a:xfrm>
          <a:prstGeom prst="ellipse">
            <a:avLst/>
          </a:prstGeom>
          <a:solidFill>
            <a:srgbClr val="2C6E9F"/>
          </a:solidFill>
          <a:ln w="12700">
            <a:solidFill>
              <a:srgbClr val="2C6E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302752" y="3246120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Charleston ranks #1 on leakage rate, yet only #10 on leakage dollars.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138160" y="4041648"/>
            <a:ext cx="82296" cy="82296"/>
          </a:xfrm>
          <a:prstGeom prst="ellipse">
            <a:avLst/>
          </a:prstGeom>
          <a:solidFill>
            <a:srgbClr val="4D7C5B"/>
          </a:solidFill>
          <a:ln w="12700">
            <a:solidFill>
              <a:srgbClr val="4D7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302752" y="3977640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Prioritize high-volume DCs for investigation — without assuming unique process failure.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845552" y="5532120"/>
            <a:ext cx="3703320" cy="658368"/>
          </a:xfrm>
          <a:prstGeom prst="roundRect">
            <a:avLst>
              <a:gd name="adj" fmla="val 11111"/>
            </a:avLst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156448" y="573328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Exposure ≠ root cause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67E45"/>
                </a:solidFill>
              </a:rPr>
              <a:t>SCALE EFFECT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</a:rPr>
              <a:t>Leakage dollars are rising faster because the business is larger - not because the rate is deteriorating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Jan–Sep 2026 direct leakage +138%; gross sales +143%; leakage rate -0.48 percentage points.</a:t>
            </a:r>
            <a:endParaRPr lang="en-US" sz="1250" dirty="0"/>
          </a:p>
        </p:txBody>
      </p:sp>
      <p:pic>
        <p:nvPicPr>
          <p:cNvPr id="5" name="Image 0" descr="/mnt/data/revenue_leak_assets/monthly_leakage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63040"/>
            <a:ext cx="818388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42832" y="1719072"/>
            <a:ext cx="24871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942832" y="1719072"/>
            <a:ext cx="73152" cy="1188720"/>
          </a:xfrm>
          <a:prstGeom prst="rect">
            <a:avLst/>
          </a:prstGeom>
          <a:solidFill>
            <a:srgbClr val="E67E45"/>
          </a:solidFill>
          <a:ln w="12700">
            <a:solidFill>
              <a:srgbClr val="E67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171432" y="1947672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+138%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171432" y="2468880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Direct leakage, Jan→Sep 2026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942832" y="3108960"/>
            <a:ext cx="24871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942832" y="3108960"/>
            <a:ext cx="73152" cy="1188720"/>
          </a:xfrm>
          <a:prstGeom prst="rect">
            <a:avLst/>
          </a:prstGeom>
          <a:solidFill>
            <a:srgbClr val="2C6E9F"/>
          </a:solidFill>
          <a:ln w="12700">
            <a:solidFill>
              <a:srgbClr val="2C6E9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171432" y="3337560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+143%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171432" y="3858768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Gross sales, Jan→Sep 2026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942832" y="4498848"/>
            <a:ext cx="2487168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942832" y="4498848"/>
            <a:ext cx="73152" cy="1188720"/>
          </a:xfrm>
          <a:prstGeom prst="rect">
            <a:avLst/>
          </a:prstGeom>
          <a:solidFill>
            <a:srgbClr val="4D7C5B"/>
          </a:solidFill>
          <a:ln w="12700">
            <a:solidFill>
              <a:srgbClr val="4D7C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71432" y="4727448"/>
            <a:ext cx="216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</a:rPr>
              <a:t>−0.48 pp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9171432" y="5248656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</a:rPr>
              <a:t>Leakage rate change, Jan→Sep 2026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04672" y="5870448"/>
            <a:ext cx="76809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3B57"/>
                </a:solidFill>
              </a:rPr>
              <a:t>Implication: a stable leakage rate becomes more expensive as volume scales, so even modest rate improvement has increasing dollar value.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E67E45"/>
                </a:solidFill>
              </a:rPr>
              <a:t>RECOMMENDED ACTIONS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1018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</a:rPr>
              <a:t>Prioritize by recoverable financial exposure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</a:rPr>
              <a:t>Focus where high value × high leakage × high volume creates the largest opportunity.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8F4"/>
          </a:solidFill>
          <a:ln w="12700">
            <a:solidFill>
              <a:srgbClr val="F0C8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1737360"/>
            <a:ext cx="530352" cy="530352"/>
          </a:xfrm>
          <a:prstGeom prst="ellipse">
            <a:avLst/>
          </a:prstGeom>
          <a:solidFill>
            <a:srgbClr val="E67E45"/>
          </a:solidFill>
          <a:ln w="12700">
            <a:solidFill>
              <a:srgbClr val="E67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42416" y="1847088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64208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Reduce category cancellations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1719072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4748B"/>
                </a:solidFill>
              </a:rPr>
              <a:t>Start with Outerwear &amp; Coats and Jeans; review cancellation reasons, inventory signals, and fulfillment handoffs.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58368" y="2633472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96112" y="2816352"/>
            <a:ext cx="530352" cy="530352"/>
          </a:xfrm>
          <a:prstGeom prst="ellipse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42416" y="2926080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64208" y="28163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Protect severe-leak high-value customers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2798064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4748B"/>
                </a:solidFill>
              </a:rPr>
              <a:t>Use retention/recovery actions on the 4,820-customer segment before broad customer-wide tactics.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658368" y="3712464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96112" y="3895344"/>
            <a:ext cx="530352" cy="530352"/>
          </a:xfrm>
          <a:prstGeom prst="ellipse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42416" y="4005072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64208" y="38953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Investigate high-volume fulfillment nodes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3877056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4748B"/>
                </a:solidFill>
              </a:rPr>
              <a:t>Audit Houston, Memphis, Chicago, Mobile, and Philadelphia while controlling for transaction mix and rate.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658368" y="4791456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5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96112" y="4974336"/>
            <a:ext cx="530352" cy="530352"/>
          </a:xfrm>
          <a:prstGeom prst="ellipse">
            <a:avLst/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42416" y="508406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64208" y="49743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</a:rPr>
              <a:t>Monitor rate + dollars together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9160" y="4956048"/>
            <a:ext cx="6492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4748B"/>
                </a:solidFill>
              </a:rPr>
              <a:t>Track absolute leakage, normalized leakage rate, and exposure to avoid mistaking growth for process deterioration.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658368" y="5971032"/>
            <a:ext cx="10972800" cy="475488"/>
          </a:xfrm>
          <a:prstGeom prst="roundRect">
            <a:avLst>
              <a:gd name="adj" fmla="val 15385"/>
            </a:avLst>
          </a:prstGeom>
          <a:solidFill>
            <a:srgbClr val="173B57"/>
          </a:solidFill>
          <a:ln w="12700">
            <a:solidFill>
              <a:srgbClr val="173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4400" y="6099048"/>
            <a:ext cx="10469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Next analytical step: quantify recoverable revenue under realistic intervention scenarios rather than assuming 100% leakage recovery.</a:t>
            </a:r>
            <a:endParaRPr lang="en-US" sz="11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7A879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689</Words>
  <Application>Microsoft Macintosh PowerPoint</Application>
  <PresentationFormat>Widescreen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Leak Intelligence</dc:title>
  <dc:subject>Revenue Leak Intelligence executive report</dc:subject>
  <dc:creator>Huyen Le</dc:creator>
  <cp:lastModifiedBy>Huyen Le</cp:lastModifiedBy>
  <cp:revision>2</cp:revision>
  <dcterms:created xsi:type="dcterms:W3CDTF">2026-09-18T05:43:51Z</dcterms:created>
  <dcterms:modified xsi:type="dcterms:W3CDTF">2026-09-18T05:46:37Z</dcterms:modified>
</cp:coreProperties>
</file>